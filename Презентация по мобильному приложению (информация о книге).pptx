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sldIdLst>
    <p:sldId id="257" r:id="rId2"/>
    <p:sldId id="26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728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282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47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117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7626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163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ru-RU"/>
              <a:t>Образец текста</a:t>
            </a:r>
          </a:p>
          <a:p>
            <a:pPr marL="228600" lvl="1" indent="-228600"/>
            <a:r>
              <a:rPr lang="ru-RU"/>
              <a:t>Второй уровень</a:t>
            </a:r>
          </a:p>
          <a:p>
            <a:pPr marL="228600" lvl="2" indent="-228600"/>
            <a:r>
              <a:rPr lang="ru-RU"/>
              <a:t>Третий уровень</a:t>
            </a:r>
          </a:p>
          <a:p>
            <a:pPr marL="228600" lvl="3" indent="-228600"/>
            <a:r>
              <a:rPr lang="ru-RU"/>
              <a:t>Четвертый уровень</a:t>
            </a:r>
          </a:p>
          <a:p>
            <a:pPr marL="228600" lvl="4" indent="-228600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763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32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11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2242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38032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55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201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6650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902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82803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8078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224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4046477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88395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714163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267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2971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7469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6441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937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58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B271990D-771D-4705-9323-894D65C0D98F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AD3323F8-1725-4BB4-A4B3-8493374280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6242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28" r:id="rId16"/>
    <p:sldLayoutId id="2147483929" r:id="rId17"/>
    <p:sldLayoutId id="2147483930" r:id="rId18"/>
    <p:sldLayoutId id="2147483931" r:id="rId19"/>
    <p:sldLayoutId id="2147483932" r:id="rId20"/>
    <p:sldLayoutId id="2147483933" r:id="rId21"/>
    <p:sldLayoutId id="2147483934" r:id="rId22"/>
    <p:sldLayoutId id="2147483935" r:id="rId23"/>
    <p:sldLayoutId id="2147483936" r:id="rId24"/>
    <p:sldLayoutId id="2147483937" r:id="rId25"/>
    <p:sldLayoutId id="2147483938" r:id="rId26"/>
    <p:sldLayoutId id="2147483939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2543" y="1062543"/>
            <a:ext cx="11129457" cy="5795457"/>
            <a:chOff x="0" y="0"/>
            <a:chExt cx="22258914" cy="1159091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 cstate="print">
              <a:alphaModFix amt="42000"/>
            </a:blip>
            <a:srcRect t="10920" b="10920"/>
            <a:stretch>
              <a:fillRect/>
            </a:stretch>
          </p:blipFill>
          <p:spPr>
            <a:xfrm>
              <a:off x="0" y="0"/>
              <a:ext cx="22258914" cy="11590914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209890" y="189428"/>
            <a:ext cx="9178659" cy="89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65"/>
              </a:lnSpc>
            </a:pPr>
            <a:r>
              <a:rPr lang="en-US" sz="1689" spc="33" dirty="0">
                <a:solidFill>
                  <a:srgbClr val="F0F0EE">
                    <a:alpha val="66667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</a:t>
            </a:r>
            <a:r>
              <a:rPr lang="ru-RU" sz="1689" spc="33" dirty="0">
                <a:solidFill>
                  <a:srgbClr val="F0F0EE">
                    <a:alpha val="66667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МОЛОДЕЖНОЙ ПОЛИТИКИ</a:t>
            </a:r>
            <a:r>
              <a:rPr lang="en-US" sz="1689" spc="33" dirty="0">
                <a:solidFill>
                  <a:srgbClr val="F0F0EE">
                    <a:alpha val="66667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СВЕРДЛОВСКОЙ ОБЛАСТИ</a:t>
            </a:r>
          </a:p>
          <a:p>
            <a:pPr>
              <a:lnSpc>
                <a:spcPts val="2365"/>
              </a:lnSpc>
            </a:pPr>
            <a:r>
              <a:rPr lang="en-US" sz="1689" spc="33" dirty="0">
                <a:solidFill>
                  <a:srgbClr val="F0F0EE">
                    <a:alpha val="66667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ГАПОУ СО «ЕКАТЕРИНБУРГСКИЙ КОЛЛЕДЖ ТРАНСПОРТНОГО СТРОИТЕЛЬСТВА»</a:t>
            </a:r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1062543" cy="106254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Box 7"/>
          <p:cNvSpPr txBox="1"/>
          <p:nvPr/>
        </p:nvSpPr>
        <p:spPr>
          <a:xfrm>
            <a:off x="1209890" y="1767417"/>
            <a:ext cx="10037818" cy="2593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49"/>
              </a:lnSpc>
            </a:pPr>
            <a:r>
              <a:rPr lang="en-US" sz="7669" spc="-276" dirty="0" err="1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en-US" sz="7669" spc="-276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669" spc="-276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мобильного приложения </a:t>
            </a:r>
            <a:r>
              <a:rPr lang="en-US" sz="7669" spc="-276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7669" spc="-276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Книжная полка</a:t>
            </a:r>
            <a:r>
              <a:rPr lang="en-US" sz="7669" spc="-276" dirty="0">
                <a:solidFill>
                  <a:srgbClr val="F0F0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90583" y="101446"/>
            <a:ext cx="681378" cy="859651"/>
            <a:chOff x="0" y="0"/>
            <a:chExt cx="1362756" cy="171930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 cstate="print"/>
            <a:srcRect t="10179" b="10179"/>
            <a:stretch>
              <a:fillRect/>
            </a:stretch>
          </p:blipFill>
          <p:spPr>
            <a:xfrm>
              <a:off x="0" y="0"/>
              <a:ext cx="1362756" cy="171930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209889" y="5392063"/>
            <a:ext cx="6554119" cy="1242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93"/>
              </a:lnSpc>
              <a:spcBef>
                <a:spcPct val="0"/>
              </a:spcBef>
            </a:pPr>
            <a:r>
              <a:rPr lang="en-US" sz="178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Работу</a:t>
            </a:r>
            <a:r>
              <a:rPr lang="en-US" sz="178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8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178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78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</a:t>
            </a:r>
            <a:r>
              <a:rPr lang="ru-RU" sz="178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итов</a:t>
            </a:r>
            <a:r>
              <a:rPr lang="en-US" sz="178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8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en-US" sz="178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.В.</a:t>
            </a:r>
          </a:p>
          <a:p>
            <a:pPr>
              <a:lnSpc>
                <a:spcPts val="2493"/>
              </a:lnSpc>
              <a:spcBef>
                <a:spcPct val="0"/>
              </a:spcBef>
            </a:pPr>
            <a:r>
              <a:rPr lang="en-US" sz="178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sz="178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78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Мирошниченко Г.В.</a:t>
            </a:r>
            <a:endParaRPr lang="en-US" sz="178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493"/>
              </a:lnSpc>
              <a:spcBef>
                <a:spcPct val="0"/>
              </a:spcBef>
            </a:pPr>
            <a:r>
              <a:rPr lang="en-US" sz="178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en-US" sz="178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Пр-31</a:t>
            </a:r>
          </a:p>
          <a:p>
            <a:pPr>
              <a:lnSpc>
                <a:spcPts val="2493"/>
              </a:lnSpc>
              <a:spcBef>
                <a:spcPct val="0"/>
              </a:spcBef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6F715-B6A3-11C2-CAF8-002C215E6EFE}"/>
              </a:ext>
            </a:extLst>
          </p:cNvPr>
          <p:cNvSpPr txBox="1">
            <a:spLocks/>
          </p:cNvSpPr>
          <p:nvPr/>
        </p:nvSpPr>
        <p:spPr>
          <a:xfrm>
            <a:off x="337912" y="562737"/>
            <a:ext cx="3636392" cy="65346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0" kern="1200" spc="-11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 разработке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A9D1F12-D52F-C497-BC95-DA19E42B1BC1}"/>
              </a:ext>
            </a:extLst>
          </p:cNvPr>
          <p:cNvSpPr txBox="1">
            <a:spLocks/>
          </p:cNvSpPr>
          <p:nvPr/>
        </p:nvSpPr>
        <p:spPr>
          <a:xfrm>
            <a:off x="680392" y="1490280"/>
            <a:ext cx="3636392" cy="14966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предназначена для ведения личного каталога прочитанной литературы.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3846583D-538E-F26E-488C-473304A9AB8C}"/>
              </a:ext>
            </a:extLst>
          </p:cNvPr>
          <p:cNvSpPr txBox="1">
            <a:spLocks/>
          </p:cNvSpPr>
          <p:nvPr/>
        </p:nvSpPr>
        <p:spPr>
          <a:xfrm>
            <a:off x="680392" y="2882023"/>
            <a:ext cx="4597778" cy="37088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Данная разработка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это мобильный программный продукт, предназначенный для автоматизации поиска книг по уникальному номеру (ISBN) через глобальную базу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OpenLibrary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для удобного сохранения, редактирования и систематизации личной библиотеки пользователя на устройстве.</a:t>
            </a:r>
            <a:endParaRPr lang="ru-RU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482A852-BBEA-E486-B29F-A6F32614F8BA}"/>
              </a:ext>
            </a:extLst>
          </p:cNvPr>
          <p:cNvSpPr/>
          <p:nvPr/>
        </p:nvSpPr>
        <p:spPr>
          <a:xfrm>
            <a:off x="7049716" y="1022406"/>
            <a:ext cx="3002901" cy="132029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002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Умный поиск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6554D1C-A7E4-7CDD-4A31-5382B1BDF53D}"/>
              </a:ext>
            </a:extLst>
          </p:cNvPr>
          <p:cNvSpPr/>
          <p:nvPr/>
        </p:nvSpPr>
        <p:spPr>
          <a:xfrm>
            <a:off x="7049715" y="2768852"/>
            <a:ext cx="3002901" cy="132029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002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Мобильный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5DA85D4-4E8B-3BFE-4C2E-6B50AE51E738}"/>
              </a:ext>
            </a:extLst>
          </p:cNvPr>
          <p:cNvSpPr/>
          <p:nvPr/>
        </p:nvSpPr>
        <p:spPr>
          <a:xfrm>
            <a:off x="7049714" y="4515299"/>
            <a:ext cx="3002901" cy="132029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dk1">
              <a:shade val="15000"/>
            </a:schemeClr>
          </a:lnRef>
          <a:fillRef idx="1002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Личный каталог</a:t>
            </a:r>
          </a:p>
        </p:txBody>
      </p:sp>
    </p:spTree>
    <p:extLst>
      <p:ext uri="{BB962C8B-B14F-4D97-AF65-F5344CB8AC3E}">
        <p14:creationId xmlns:p14="http://schemas.microsoft.com/office/powerpoint/2010/main" val="107485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6E62C2-8681-9BC3-9D40-61C1718C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734" y="342392"/>
            <a:ext cx="5306332" cy="87619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 ПРОЕКТА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26A9AC-9849-83F9-1E11-BF6DD5644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508" y="1359464"/>
            <a:ext cx="8624048" cy="1020090"/>
          </a:xfrm>
        </p:spPr>
        <p:txBody>
          <a:bodyPr>
            <a:norm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Разработка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-приложения для получения информации о книге через API и сохранения её в локальную базу данных с возможностью управления записями.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63F6AA6-AFD0-85EA-7AD9-262FC40179C3}"/>
              </a:ext>
            </a:extLst>
          </p:cNvPr>
          <p:cNvSpPr txBox="1">
            <a:spLocks/>
          </p:cNvSpPr>
          <p:nvPr/>
        </p:nvSpPr>
        <p:spPr>
          <a:xfrm>
            <a:off x="390497" y="2282793"/>
            <a:ext cx="1709907" cy="951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430903-D724-4563-E2DE-B3B63180DD5E}"/>
              </a:ext>
            </a:extLst>
          </p:cNvPr>
          <p:cNvSpPr txBox="1"/>
          <p:nvPr/>
        </p:nvSpPr>
        <p:spPr>
          <a:xfrm>
            <a:off x="275508" y="3126044"/>
            <a:ext cx="41464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•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актуальную информацию по работе с REST API и форматом JSON.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CE24B-84F0-823D-DF9D-334224902B80}"/>
              </a:ext>
            </a:extLst>
          </p:cNvPr>
          <p:cNvSpPr txBox="1"/>
          <p:nvPr/>
        </p:nvSpPr>
        <p:spPr>
          <a:xfrm>
            <a:off x="5663256" y="3126044"/>
            <a:ext cx="41464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•  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Подобрать средства для разработки (язык </a:t>
            </a: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среда </a:t>
            </a: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Studio).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162EAF-A628-0C8A-615D-3E25C4B76AFC}"/>
              </a:ext>
            </a:extLst>
          </p:cNvPr>
          <p:cNvSpPr txBox="1"/>
          <p:nvPr/>
        </p:nvSpPr>
        <p:spPr>
          <a:xfrm>
            <a:off x="275508" y="4049374"/>
            <a:ext cx="37594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•  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удобный пользовательский интерфейс на основе трех фрагментов.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05B92C-38A5-9098-33DC-1D3B9A065FF8}"/>
              </a:ext>
            </a:extLst>
          </p:cNvPr>
          <p:cNvSpPr txBox="1"/>
          <p:nvPr/>
        </p:nvSpPr>
        <p:spPr>
          <a:xfrm>
            <a:off x="5663256" y="4049374"/>
            <a:ext cx="45471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•  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Учесть требования к задаче и реализовать механизмы сохранения данных (</a:t>
            </a: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SharedPreferences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ROOM).</a:t>
            </a:r>
          </a:p>
        </p:txBody>
      </p:sp>
    </p:spTree>
    <p:extLst>
      <p:ext uri="{BB962C8B-B14F-4D97-AF65-F5344CB8AC3E}">
        <p14:creationId xmlns:p14="http://schemas.microsoft.com/office/powerpoint/2010/main" val="1816809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65BCD-FBE2-0D8C-6712-C4E72AE0D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89" y="705336"/>
            <a:ext cx="7528152" cy="87619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ХАРАКТЕРИСТИКИ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1A04D-5A90-098C-EC7E-30B1A1E673F6}"/>
              </a:ext>
            </a:extLst>
          </p:cNvPr>
          <p:cNvSpPr txBox="1"/>
          <p:nvPr/>
        </p:nvSpPr>
        <p:spPr>
          <a:xfrm>
            <a:off x="1278803" y="1887058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ПРИВЛЕКАТЕЛЬНОСТЬ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9FF978-5954-CB39-726E-BE94BDBD2B52}"/>
              </a:ext>
            </a:extLst>
          </p:cNvPr>
          <p:cNvSpPr txBox="1"/>
          <p:nvPr/>
        </p:nvSpPr>
        <p:spPr>
          <a:xfrm>
            <a:off x="411739" y="1760842"/>
            <a:ext cx="80802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4200" dirty="0"/>
              <a:t>🖥️</a:t>
            </a:r>
            <a:endParaRPr lang="ru-RU" sz="4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02771E-7CB2-31F5-D7DF-F3F59D9B2A25}"/>
              </a:ext>
            </a:extLst>
          </p:cNvPr>
          <p:cNvSpPr txBox="1"/>
          <p:nvPr/>
        </p:nvSpPr>
        <p:spPr>
          <a:xfrm>
            <a:off x="1342176" y="2311239"/>
            <a:ext cx="9544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Современный интерфейс в стиле </a:t>
            </a: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 и автоматическая загрузка обложек найденных книг делают работу с приложением визуально приятной и интуитивно понятной.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264052-1D03-6F91-6CBA-C1E3FE360305}"/>
              </a:ext>
            </a:extLst>
          </p:cNvPr>
          <p:cNvSpPr txBox="1"/>
          <p:nvPr/>
        </p:nvSpPr>
        <p:spPr>
          <a:xfrm>
            <a:off x="1278803" y="3287246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ЛАКОНИЧНОСТЬ И ПРОСТОТА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DD80A9-E5A4-D99A-4B13-A264CE6FB193}"/>
              </a:ext>
            </a:extLst>
          </p:cNvPr>
          <p:cNvSpPr txBox="1"/>
          <p:nvPr/>
        </p:nvSpPr>
        <p:spPr>
          <a:xfrm>
            <a:off x="1342175" y="3793528"/>
            <a:ext cx="96260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разделен всего на 3 логических экрана. Он не перегружен лишней информацией: пользователю достаточно ввести ISBN, чтобы получить готовую карточку книги.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6FEC15-DA63-6D4B-2865-31B69544F305}"/>
              </a:ext>
            </a:extLst>
          </p:cNvPr>
          <p:cNvSpPr txBox="1"/>
          <p:nvPr/>
        </p:nvSpPr>
        <p:spPr>
          <a:xfrm>
            <a:off x="1278803" y="4687434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СИСТЕМАТИЗАЦИЯ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6A6595-91CE-4758-7E42-E744D4197BF6}"/>
              </a:ext>
            </a:extLst>
          </p:cNvPr>
          <p:cNvSpPr txBox="1"/>
          <p:nvPr/>
        </p:nvSpPr>
        <p:spPr>
          <a:xfrm>
            <a:off x="1342174" y="5156321"/>
            <a:ext cx="10296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Упрощение и автоматизация операций поиска литературы, а также удобное сохранение, редактирование и удаление записей в личной библиотеке благодаря локальной базе данных ROOM.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A096F3-58FF-30A3-47D3-7ACD6B1663E8}"/>
              </a:ext>
            </a:extLst>
          </p:cNvPr>
          <p:cNvSpPr txBox="1"/>
          <p:nvPr/>
        </p:nvSpPr>
        <p:spPr>
          <a:xfrm>
            <a:off x="411739" y="3229216"/>
            <a:ext cx="13353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4200" dirty="0"/>
              <a:t>✅</a:t>
            </a:r>
            <a:endParaRPr lang="ru-RU" sz="4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CD18B9-A938-7C13-8684-7628BAC45266}"/>
              </a:ext>
            </a:extLst>
          </p:cNvPr>
          <p:cNvSpPr txBox="1"/>
          <p:nvPr/>
        </p:nvSpPr>
        <p:spPr>
          <a:xfrm>
            <a:off x="448889" y="4687434"/>
            <a:ext cx="7446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4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🧩</a:t>
            </a:r>
          </a:p>
        </p:txBody>
      </p:sp>
    </p:spTree>
    <p:extLst>
      <p:ext uri="{BB962C8B-B14F-4D97-AF65-F5344CB8AC3E}">
        <p14:creationId xmlns:p14="http://schemas.microsoft.com/office/powerpoint/2010/main" val="1376639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381F98-BF0D-0751-0D71-57F9C8861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92" y="610911"/>
            <a:ext cx="3500719" cy="646332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ТЕХНОЛОГИЙ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DD5B1FED-5670-6F17-A616-CAEC803A0D02}"/>
              </a:ext>
            </a:extLst>
          </p:cNvPr>
          <p:cNvSpPr/>
          <p:nvPr/>
        </p:nvSpPr>
        <p:spPr>
          <a:xfrm>
            <a:off x="229310" y="1706620"/>
            <a:ext cx="3168557" cy="154754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программирования:</a:t>
            </a:r>
          </a:p>
          <a:p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endParaRPr lang="ru-RU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D025F7E-B950-047A-8E6C-2F4DC68A3E4D}"/>
              </a:ext>
            </a:extLst>
          </p:cNvPr>
          <p:cNvSpPr/>
          <p:nvPr/>
        </p:nvSpPr>
        <p:spPr>
          <a:xfrm>
            <a:off x="4427867" y="1706160"/>
            <a:ext cx="3168557" cy="154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разработки:</a:t>
            </a:r>
          </a:p>
          <a:p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Studio</a:t>
            </a:r>
          </a:p>
          <a:p>
            <a:pPr algn="ctr"/>
            <a:endParaRPr lang="ru-RU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9701F1B-7819-8AE7-43FB-E7EBAC62EAD5}"/>
              </a:ext>
            </a:extLst>
          </p:cNvPr>
          <p:cNvSpPr/>
          <p:nvPr/>
        </p:nvSpPr>
        <p:spPr>
          <a:xfrm>
            <a:off x="8626424" y="1706160"/>
            <a:ext cx="3168000" cy="154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UI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Fragments</a:t>
            </a:r>
            <a:endParaRPr lang="ru-RU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22D0DF3-B2DA-CA55-B1E5-2BC643AE9C83}"/>
              </a:ext>
            </a:extLst>
          </p:cNvPr>
          <p:cNvSpPr/>
          <p:nvPr/>
        </p:nvSpPr>
        <p:spPr>
          <a:xfrm>
            <a:off x="229310" y="3920820"/>
            <a:ext cx="2700000" cy="136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Сетевые запросы:</a:t>
            </a:r>
          </a:p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Volley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2A400F8-42C8-E575-995E-C340BF6E7516}"/>
              </a:ext>
            </a:extLst>
          </p:cNvPr>
          <p:cNvSpPr/>
          <p:nvPr/>
        </p:nvSpPr>
        <p:spPr>
          <a:xfrm>
            <a:off x="3184348" y="3920820"/>
            <a:ext cx="2700000" cy="136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Локальная БД: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</a:t>
            </a:r>
          </a:p>
          <a:p>
            <a:pPr algn="ctr"/>
            <a:endParaRPr lang="ru-RU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FB0535CD-256C-29A4-D343-C1631B0367AE}"/>
              </a:ext>
            </a:extLst>
          </p:cNvPr>
          <p:cNvSpPr/>
          <p:nvPr/>
        </p:nvSpPr>
        <p:spPr>
          <a:xfrm>
            <a:off x="9094424" y="3920820"/>
            <a:ext cx="2700000" cy="136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картинок:</a:t>
            </a:r>
          </a:p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Glide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4E56CC59-85A3-8DC7-4971-0694C8DD9FAA}"/>
              </a:ext>
            </a:extLst>
          </p:cNvPr>
          <p:cNvSpPr/>
          <p:nvPr/>
        </p:nvSpPr>
        <p:spPr>
          <a:xfrm>
            <a:off x="6139386" y="3928663"/>
            <a:ext cx="2700000" cy="136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данных: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1557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FC7F-EC98-C19D-7A39-3EFD6095F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88" y="888076"/>
            <a:ext cx="5400586" cy="50615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ОКНО (АВТОРИЗАЦИЯ)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24D938-0788-89E1-CDBA-A985B2364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830" y="1633159"/>
            <a:ext cx="4269332" cy="790669"/>
          </a:xfrm>
        </p:spPr>
        <p:txBody>
          <a:bodyPr/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Включает в себя приветственный экран для входа в систему.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02314-D45A-DDE1-B23E-C6F837F1B076}"/>
              </a:ext>
            </a:extLst>
          </p:cNvPr>
          <p:cNvSpPr txBox="1"/>
          <p:nvPr/>
        </p:nvSpPr>
        <p:spPr>
          <a:xfrm>
            <a:off x="329830" y="2812609"/>
            <a:ext cx="4749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Поле для ввода имени пользователя.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138FA8-1829-230B-33E8-4E14D81C0E53}"/>
              </a:ext>
            </a:extLst>
          </p:cNvPr>
          <p:cNvSpPr txBox="1"/>
          <p:nvPr/>
        </p:nvSpPr>
        <p:spPr>
          <a:xfrm>
            <a:off x="329830" y="3534509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ввода на пустоту.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78396-F5CC-897C-40B9-6DBFE1E4BEC0}"/>
              </a:ext>
            </a:extLst>
          </p:cNvPr>
          <p:cNvSpPr txBox="1"/>
          <p:nvPr/>
        </p:nvSpPr>
        <p:spPr>
          <a:xfrm>
            <a:off x="329830" y="4275859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имени в </a:t>
            </a: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SharedPreferences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формате JSON для персонализации интерфейса.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82F1DD2-3EC9-F83D-1B4C-7A1651D38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323" y="237206"/>
            <a:ext cx="2907529" cy="616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9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78E9F-7864-4CB7-1634-1AE706DD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54" y="863181"/>
            <a:ext cx="5518283" cy="796031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ПОИСКА И ДОБАВЛЕНИЯ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2B2FEE-869D-1018-0269-B016C4583EA8}"/>
              </a:ext>
            </a:extLst>
          </p:cNvPr>
          <p:cNvSpPr txBox="1"/>
          <p:nvPr/>
        </p:nvSpPr>
        <p:spPr>
          <a:xfrm>
            <a:off x="314609" y="1659212"/>
            <a:ext cx="5063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запроса данных из внешнего источника (</a:t>
            </a: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OpenLibrary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1A9687-7FC2-E1EA-CA5E-17C2E6B7B984}"/>
              </a:ext>
            </a:extLst>
          </p:cNvPr>
          <p:cNvSpPr txBox="1"/>
          <p:nvPr/>
        </p:nvSpPr>
        <p:spPr>
          <a:xfrm>
            <a:off x="314609" y="2650842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Ввод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ISBN уникального номера книги.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7F6809-16EF-7B90-8447-7C88B9FFAD9D}"/>
              </a:ext>
            </a:extLst>
          </p:cNvPr>
          <p:cNvSpPr txBox="1"/>
          <p:nvPr/>
        </p:nvSpPr>
        <p:spPr>
          <a:xfrm>
            <a:off x="314609" y="3374119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Кнопка отправки запроса.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A4A985-79DC-42E5-617C-6172FE948397}"/>
              </a:ext>
            </a:extLst>
          </p:cNvPr>
          <p:cNvSpPr txBox="1"/>
          <p:nvPr/>
        </p:nvSpPr>
        <p:spPr>
          <a:xfrm>
            <a:off x="314609" y="402263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Автоматический парсинг JSON-ответа: извлечение названия, автора и ссылки на обложку.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9478A4-2504-0C7A-773B-EADEA43FA6F1}"/>
              </a:ext>
            </a:extLst>
          </p:cNvPr>
          <p:cNvSpPr txBox="1"/>
          <p:nvPr/>
        </p:nvSpPr>
        <p:spPr>
          <a:xfrm>
            <a:off x="314609" y="4948154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изображения обложки по ссылке с помощью библиотеки </a:t>
            </a:r>
            <a:r>
              <a:rPr lang="ru-RU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Glide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11E549-F06D-FFBC-1E38-86168A4C4B72}"/>
              </a:ext>
            </a:extLst>
          </p:cNvPr>
          <p:cNvSpPr txBox="1"/>
          <p:nvPr/>
        </p:nvSpPr>
        <p:spPr>
          <a:xfrm>
            <a:off x="314609" y="5826339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Кнопка сохранения данных в локальную БД.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70567C-6ED5-E066-2E9A-6A0C16C2C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384" y="232916"/>
            <a:ext cx="2953162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78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82060-1A45-ECFD-0E94-DC6E7958F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097" y="590467"/>
            <a:ext cx="4920752" cy="676267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 вывода и управления библиотекой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848C43-AFBC-1AFC-BA5A-D12B31FBA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738" y="1635892"/>
            <a:ext cx="5482496" cy="881204"/>
          </a:xfrm>
        </p:spPr>
        <p:txBody>
          <a:bodyPr>
            <a:norm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Отображение личного каталога из базы данных ROOM реализовано на базе 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RecyclerView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014E04-018A-FBA3-A3C8-BDF842056CCF}"/>
              </a:ext>
            </a:extLst>
          </p:cNvPr>
          <p:cNvSpPr txBox="1"/>
          <p:nvPr/>
        </p:nvSpPr>
        <p:spPr>
          <a:xfrm>
            <a:off x="411738" y="2616395"/>
            <a:ext cx="56902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45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Карточка каждой книги содержит обложку, название и автора.</a:t>
            </a:r>
          </a:p>
          <a:p>
            <a:pPr>
              <a:buNone/>
            </a:pP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1EA1C9-440A-4F78-189D-FFC64E710A87}"/>
              </a:ext>
            </a:extLst>
          </p:cNvPr>
          <p:cNvSpPr txBox="1"/>
          <p:nvPr/>
        </p:nvSpPr>
        <p:spPr>
          <a:xfrm>
            <a:off x="411738" y="3415342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45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ru-RU" sz="1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Редактирование: Кнопка «Ред.» открывает форму с заполненными полями.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A3E1A1-2454-9F22-A644-97240780F34D}"/>
              </a:ext>
            </a:extLst>
          </p:cNvPr>
          <p:cNvSpPr txBox="1"/>
          <p:nvPr/>
        </p:nvSpPr>
        <p:spPr>
          <a:xfrm>
            <a:off x="411738" y="4400721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45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ru-RU" sz="1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Удаление: Кнопка «Удалить» мгновенно стирает запись из списка и базы.</a:t>
            </a:r>
          </a:p>
          <a:p>
            <a:pPr>
              <a:buNone/>
            </a:pP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F4B735-4CFB-A6E3-D4C8-4D905EE630E6}"/>
              </a:ext>
            </a:extLst>
          </p:cNvPr>
          <p:cNvSpPr txBox="1"/>
          <p:nvPr/>
        </p:nvSpPr>
        <p:spPr>
          <a:xfrm>
            <a:off x="411738" y="5259894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Кнопка «Добавить книгу» вверху экрана позволяет перейти к поиску новой литературы.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AC5886C-9165-C9A5-14BC-6AC9E903B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09" y="304364"/>
            <a:ext cx="2896004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288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800A63-ABA4-017A-49B0-90EFD880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94" y="766319"/>
            <a:ext cx="4314171" cy="72434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49F0CF-6D0C-54CC-F659-B37EDB8E9FD9}"/>
              </a:ext>
            </a:extLst>
          </p:cNvPr>
          <p:cNvSpPr txBox="1"/>
          <p:nvPr/>
        </p:nvSpPr>
        <p:spPr>
          <a:xfrm>
            <a:off x="396089" y="1935766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3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синхронизации с облаком (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для доступа с разных устройств.</a:t>
            </a:r>
          </a:p>
          <a:p>
            <a:pPr>
              <a:buNone/>
            </a:pP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72CCB-9C01-2F1C-980A-FE580E564C9D}"/>
              </a:ext>
            </a:extLst>
          </p:cNvPr>
          <p:cNvSpPr txBox="1"/>
          <p:nvPr/>
        </p:nvSpPr>
        <p:spPr>
          <a:xfrm>
            <a:off x="396089" y="3061742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45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сканера штрих-кодов для быстрого поиска по ISBN.</a:t>
            </a:r>
          </a:p>
          <a:p>
            <a:pPr>
              <a:buNone/>
            </a:pP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86EA06-3879-9C60-D0BC-F4A76EC9AF40}"/>
              </a:ext>
            </a:extLst>
          </p:cNvPr>
          <p:cNvSpPr txBox="1"/>
          <p:nvPr/>
        </p:nvSpPr>
        <p:spPr>
          <a:xfrm>
            <a:off x="396089" y="4284025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45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личных заметок и рейтинга для книг.</a:t>
            </a:r>
          </a:p>
          <a:p>
            <a:pPr>
              <a:buNone/>
            </a:pP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FFAE310-399B-4D81-7543-46D76E26C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557" y="490127"/>
            <a:ext cx="2896004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391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798DE9-611D-79BB-19E6-CF85EF8BF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1386" y="2990903"/>
            <a:ext cx="5509228" cy="876193"/>
          </a:xfrm>
        </p:spPr>
        <p:txBody>
          <a:bodyPr>
            <a:normAutofit/>
          </a:bodyPr>
          <a:lstStyle/>
          <a:p>
            <a:r>
              <a:rPr lang="ru-RU" sz="42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678264801"/>
      </p:ext>
    </p:extLst>
  </p:cSld>
  <p:clrMapOvr>
    <a:masterClrMapping/>
  </p:clrMapOvr>
</p:sld>
</file>

<file path=ppt/theme/theme1.xml><?xml version="1.0" encoding="utf-8"?>
<a:theme xmlns:a="http://schemas.openxmlformats.org/drawingml/2006/main" name="Запись фильма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119</TotalTime>
  <Words>515</Words>
  <Application>Microsoft Office PowerPoint</Application>
  <PresentationFormat>Широкоэкранный</PresentationFormat>
  <Paragraphs>72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Neue Haas Grotesk Text Pro</vt:lpstr>
      <vt:lpstr>Times New Roman</vt:lpstr>
      <vt:lpstr>Запись фильма</vt:lpstr>
      <vt:lpstr>Презентация PowerPoint</vt:lpstr>
      <vt:lpstr>Презентация PowerPoint</vt:lpstr>
      <vt:lpstr>ЦЕЛИ И ЗАДАЧИ ПРОЕКТА </vt:lpstr>
      <vt:lpstr>ФУНКЦИОНАЛЬНЫЕ ХАРАКТЕРИСТИКИ</vt:lpstr>
      <vt:lpstr>СТЕК ТЕХНОЛОГИЙ</vt:lpstr>
      <vt:lpstr>ГЛАВНОЕ ОКНО (АВТОРИЗАЦИЯ) </vt:lpstr>
      <vt:lpstr>ФОРМА ПОИСКА И ДОБАВЛЕНИЯ </vt:lpstr>
      <vt:lpstr>Экран вывода и управления библиотекой</vt:lpstr>
      <vt:lpstr>Перспективы развития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Ирина Политова</dc:creator>
  <cp:lastModifiedBy>Ирина Политова</cp:lastModifiedBy>
  <cp:revision>4</cp:revision>
  <dcterms:created xsi:type="dcterms:W3CDTF">2026-10-27T15:55:20Z</dcterms:created>
  <dcterms:modified xsi:type="dcterms:W3CDTF">2026-10-27T18:00:49Z</dcterms:modified>
</cp:coreProperties>
</file>